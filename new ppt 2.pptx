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7" r:id="rId1"/>
    <p:sldMasterId id="2147483873" r:id="rId2"/>
    <p:sldMasterId id="2147483885" r:id="rId3"/>
    <p:sldMasterId id="2147483951" r:id="rId4"/>
  </p:sldMasterIdLst>
  <p:sldIdLst>
    <p:sldId id="256" r:id="rId5"/>
    <p:sldId id="265" r:id="rId6"/>
    <p:sldId id="257" r:id="rId7"/>
    <p:sldId id="258" r:id="rId8"/>
    <p:sldId id="271" r:id="rId9"/>
    <p:sldId id="263" r:id="rId10"/>
    <p:sldId id="264" r:id="rId11"/>
    <p:sldId id="273" r:id="rId12"/>
    <p:sldId id="259" r:id="rId13"/>
    <p:sldId id="267" r:id="rId14"/>
    <p:sldId id="261" r:id="rId15"/>
    <p:sldId id="269" r:id="rId16"/>
    <p:sldId id="266"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4" autoAdjust="0"/>
    <p:restoredTop sz="94674"/>
  </p:normalViewPr>
  <p:slideViewPr>
    <p:cSldViewPr snapToGrid="0" snapToObjects="1">
      <p:cViewPr varScale="1">
        <p:scale>
          <a:sx n="117" d="100"/>
          <a:sy n="117" d="100"/>
        </p:scale>
        <p:origin x="256"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6778"/>
            <a:ext cx="12192000"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 Click to add title</a:t>
            </a:r>
            <a:endParaRPr lang="ko-KR" altLang="en-US" dirty="0"/>
          </a:p>
        </p:txBody>
      </p:sp>
      <p:sp>
        <p:nvSpPr>
          <p:cNvPr id="3" name="Content Placeholder 2"/>
          <p:cNvSpPr>
            <a:spLocks noGrp="1"/>
          </p:cNvSpPr>
          <p:nvPr>
            <p:ph idx="1"/>
          </p:nvPr>
        </p:nvSpPr>
        <p:spPr>
          <a:xfrm>
            <a:off x="609600" y="1600201"/>
            <a:ext cx="10972800"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a:t>Click to edit Master text styles</a:t>
            </a:r>
          </a:p>
        </p:txBody>
      </p:sp>
      <p:sp>
        <p:nvSpPr>
          <p:cNvPr id="4" name="Content Placeholder 2"/>
          <p:cNvSpPr>
            <a:spLocks noGrp="1"/>
          </p:cNvSpPr>
          <p:nvPr>
            <p:ph idx="10"/>
          </p:nvPr>
        </p:nvSpPr>
        <p:spPr>
          <a:xfrm>
            <a:off x="623392" y="2276872"/>
            <a:ext cx="10972800" cy="3600400"/>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a:t>Click to edit Master text styles</a:t>
            </a:r>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159564" y="0"/>
            <a:ext cx="10032437" cy="1069514"/>
          </a:xfrm>
          <a:prstGeom prst="rect">
            <a:avLst/>
          </a:prstGeom>
        </p:spPr>
        <p:txBody>
          <a:bodyPr anchor="ctr"/>
          <a:lstStyle>
            <a:lvl1pPr>
              <a:defRPr b="1" baseline="0">
                <a:solidFill>
                  <a:schemeClr val="tx1">
                    <a:lumMod val="75000"/>
                    <a:lumOff val="25000"/>
                  </a:schemeClr>
                </a:solidFill>
                <a:latin typeface="Arial" pitchFamily="34" charset="0"/>
                <a:cs typeface="Arial" pitchFamily="34" charset="0"/>
              </a:defRPr>
            </a:lvl1pPr>
          </a:lstStyle>
          <a:p>
            <a:r>
              <a:rPr lang="en-US" altLang="ko-KR" dirty="0"/>
              <a:t> Click to add title</a:t>
            </a:r>
            <a:endParaRPr lang="ko-KR" altLang="en-US" dirty="0"/>
          </a:p>
        </p:txBody>
      </p:sp>
      <p:sp>
        <p:nvSpPr>
          <p:cNvPr id="4" name="Content Placeholder 2"/>
          <p:cNvSpPr>
            <a:spLocks noGrp="1"/>
          </p:cNvSpPr>
          <p:nvPr>
            <p:ph idx="1"/>
          </p:nvPr>
        </p:nvSpPr>
        <p:spPr>
          <a:xfrm>
            <a:off x="2831637" y="1268760"/>
            <a:ext cx="8750763" cy="460648"/>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a:t>Click to edit Master text styles</a:t>
            </a:r>
          </a:p>
        </p:txBody>
      </p:sp>
      <p:sp>
        <p:nvSpPr>
          <p:cNvPr id="5" name="Content Placeholder 2"/>
          <p:cNvSpPr>
            <a:spLocks noGrp="1"/>
          </p:cNvSpPr>
          <p:nvPr>
            <p:ph idx="10"/>
          </p:nvPr>
        </p:nvSpPr>
        <p:spPr>
          <a:xfrm>
            <a:off x="2845429" y="1844827"/>
            <a:ext cx="8750763" cy="4147865"/>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a:t>Click to edit Master text styles</a:t>
            </a:r>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863BE271-A15F-1F42-ACDD-4810FF350A3F}" type="datetimeFigureOut">
              <a:rPr lang="en-US" smtClean="0"/>
              <a:t>9/5/19</a:t>
            </a:fld>
            <a:endParaRPr lang="en-US"/>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p>
            <a:fld id="{BC0EC9B5-01BE-2649-AB2A-07E6CBBC9D00}" type="slidenum">
              <a:rPr lang="en-US" smtClean="0"/>
              <a:t>‹#›</a:t>
            </a:fld>
            <a:endParaRPr lang="en-US"/>
          </a:p>
        </p:txBody>
      </p:sp>
    </p:spTree>
    <p:extLst>
      <p:ext uri="{BB962C8B-B14F-4D97-AF65-F5344CB8AC3E}">
        <p14:creationId xmlns:p14="http://schemas.microsoft.com/office/powerpoint/2010/main" val="325747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863BE271-A15F-1F42-ACDD-4810FF350A3F}" type="datetimeFigureOut">
              <a:rPr lang="en-US" smtClean="0"/>
              <a:t>9/5/19</a:t>
            </a:fld>
            <a:endParaRPr lang="en-US"/>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p>
            <a:fld id="{BC0EC9B5-01BE-2649-AB2A-07E6CBBC9D00}" type="slidenum">
              <a:rPr lang="en-US" smtClean="0"/>
              <a:t>‹#›</a:t>
            </a:fld>
            <a:endParaRPr lang="en-US"/>
          </a:p>
        </p:txBody>
      </p:sp>
    </p:spTree>
    <p:extLst>
      <p:ext uri="{BB962C8B-B14F-4D97-AF65-F5344CB8AC3E}">
        <p14:creationId xmlns:p14="http://schemas.microsoft.com/office/powerpoint/2010/main" val="2322506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9/5/19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9/5/19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9/5/19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9/5/19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9/5/19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9/5/19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9/5/19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9/5/19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9/5/19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9/5/19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9/5/19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9/5/19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9/5/19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940800" y="4206240"/>
            <a:ext cx="1280160" cy="457200"/>
          </a:xfrm>
        </p:spPr>
        <p:txBody>
          <a:bodyPr/>
          <a:lstStyle/>
          <a:p>
            <a:fld id="{B61BEF0D-F0BB-DE4B-95CE-6DB70DBA9567}" type="datetimeFigureOut">
              <a:rPr lang="en-US" smtClean="0"/>
              <a:pPr/>
              <a:t>9/5/19</a:t>
            </a:fld>
            <a:endParaRPr lang="en-US" dirty="0"/>
          </a:p>
        </p:txBody>
      </p:sp>
      <p:sp>
        <p:nvSpPr>
          <p:cNvPr id="17" name="Footer Placeholder 16"/>
          <p:cNvSpPr>
            <a:spLocks noGrp="1"/>
          </p:cNvSpPr>
          <p:nvPr>
            <p:ph type="ftr" sz="quarter" idx="11"/>
          </p:nvPr>
        </p:nvSpPr>
        <p:spPr>
          <a:xfrm>
            <a:off x="7213600" y="4205288"/>
            <a:ext cx="1727200" cy="457200"/>
          </a:xfrm>
        </p:spPr>
        <p:txBody>
          <a:bodyPr/>
          <a:lstStyle/>
          <a:p>
            <a:endParaRPr lang="en-US" dirty="0"/>
          </a:p>
        </p:txBody>
      </p:sp>
      <p:sp>
        <p:nvSpPr>
          <p:cNvPr id="29" name="Slide Number Placehold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D57F1E4F-1CFF-5643-939E-217C01CDF565}" type="slidenum">
              <a:rPr lang="en-US" smtClean="0"/>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B61BEF0D-F0BB-DE4B-95CE-6DB70DBA9567}" type="datetimeFigureOut">
              <a:rPr lang="en-US" smtClean="0"/>
              <a:pPr/>
              <a:t>9/5/19</a:t>
            </a:fld>
            <a:endParaRPr lang="en-US" dirty="0"/>
          </a:p>
        </p:txBody>
      </p:sp>
      <p:sp>
        <p:nvSpPr>
          <p:cNvPr id="27" name="Slide Number Placeholder 26"/>
          <p:cNvSpPr>
            <a:spLocks noGrp="1"/>
          </p:cNvSpPr>
          <p:nvPr>
            <p:ph type="sldNum" sz="quarter" idx="11"/>
          </p:nvPr>
        </p:nvSpPr>
        <p:spPr/>
        <p:txBody>
          <a:bodyPr rtlCol="0"/>
          <a:lstStyle/>
          <a:p>
            <a:fld id="{D57F1E4F-1CFF-5643-939E-217C01CDF565}" type="slidenum">
              <a:rPr lang="en-US" smtClean="0"/>
              <a:pPr/>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8778240" y="612648"/>
            <a:ext cx="1276352" cy="457200"/>
          </a:xfrm>
        </p:spPr>
        <p:txBody>
          <a:bodyPr/>
          <a:lstStyle/>
          <a:p>
            <a:fld id="{B61BEF0D-F0BB-DE4B-95CE-6DB70DBA9567}" type="datetimeFigureOut">
              <a:rPr lang="en-US" smtClean="0"/>
              <a:pPr/>
              <a:t>9/5/19</a:t>
            </a:fld>
            <a:endParaRPr lang="en-US" dirty="0"/>
          </a:p>
        </p:txBody>
      </p:sp>
      <p:sp>
        <p:nvSpPr>
          <p:cNvPr id="4" name="Footer Placeholder 3"/>
          <p:cNvSpPr>
            <a:spLocks noGrp="1"/>
          </p:cNvSpPr>
          <p:nvPr>
            <p:ph type="ftr" sz="quarter" idx="11"/>
          </p:nvPr>
        </p:nvSpPr>
        <p:spPr>
          <a:xfrm>
            <a:off x="7010400" y="612648"/>
            <a:ext cx="1767840" cy="457200"/>
          </a:xfrm>
        </p:spPr>
        <p:txBody>
          <a:bodyPr/>
          <a:lstStyle/>
          <a:p>
            <a:endParaRPr lang="en-US" dirty="0"/>
          </a:p>
        </p:txBody>
      </p:sp>
      <p:sp>
        <p:nvSpPr>
          <p:cNvPr id="5" name="Slide Number Placeholder 4"/>
          <p:cNvSpPr>
            <a:spLocks noGrp="1"/>
          </p:cNvSpPr>
          <p:nvPr>
            <p:ph type="sldNum" sz="quarter" idx="12"/>
          </p:nvPr>
        </p:nvSpPr>
        <p:spPr>
          <a:xfrm>
            <a:off x="10899648" y="2272"/>
            <a:ext cx="1016000" cy="365760"/>
          </a:xfrm>
        </p:spPr>
        <p:txBody>
          <a:bodyPr/>
          <a:lstStyle/>
          <a:p>
            <a:fld id="{D57F1E4F-1CFF-5643-939E-217C01CDF565}" type="slidenum">
              <a:rPr lang="en-US" smtClean="0"/>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37995" y="1101970"/>
            <a:ext cx="451104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1143000"/>
            <a:ext cx="2540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1143000"/>
            <a:ext cx="83312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9/5/19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9/5/19</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9/5/19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609600" y="1143000"/>
            <a:ext cx="109728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pPr algn="l" eaLnBrk="1" latinLnBrk="0" hangingPunct="1"/>
            <a:fld id="{C3F416CD-67A3-4CF0-A210-F6AF31AC147F}" type="datetimeFigureOut">
              <a:rPr lang="en-US" smtClean="0"/>
              <a:pPr algn="l" eaLnBrk="1" latinLnBrk="0" hangingPunct="1"/>
              <a:t>9/5/19</a:t>
            </a:fld>
            <a:endParaRPr lang="en-US" sz="800" dirty="0">
              <a:solidFill>
                <a:schemeClr val="accent2"/>
              </a:solidFill>
            </a:endParaRPr>
          </a:p>
        </p:txBody>
      </p:sp>
      <p:sp>
        <p:nvSpPr>
          <p:cNvPr id="3" name="Footer Placehold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pPr algn="r" eaLnBrk="1" latinLnBrk="0" hangingPunct="1"/>
            <a:endParaRPr kumimoji="0" lang="en-US" sz="800" dirty="0">
              <a:solidFill>
                <a:schemeClr val="accent2"/>
              </a:solidFill>
            </a:endParaRPr>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73FBF-AD92-1B43-9160-568C797F0D05}"/>
              </a:ext>
            </a:extLst>
          </p:cNvPr>
          <p:cNvSpPr>
            <a:spLocks noGrp="1"/>
          </p:cNvSpPr>
          <p:nvPr>
            <p:ph type="ctrTitle"/>
          </p:nvPr>
        </p:nvSpPr>
        <p:spPr>
          <a:xfrm>
            <a:off x="1524000" y="1122364"/>
            <a:ext cx="9144000" cy="1468437"/>
          </a:xfrm>
        </p:spPr>
        <p:txBody>
          <a:bodyPr>
            <a:normAutofit fontScale="90000"/>
          </a:bodyPr>
          <a:lstStyle/>
          <a:p>
            <a:pPr algn="ctr"/>
            <a:r>
              <a:rPr lang="en-US" sz="4000" dirty="0"/>
              <a:t>IoT based Automated Nutrition Monitoring System using Deep-Learning Approaches</a:t>
            </a:r>
          </a:p>
        </p:txBody>
      </p:sp>
      <p:sp>
        <p:nvSpPr>
          <p:cNvPr id="5" name="Subtitle 2">
            <a:extLst>
              <a:ext uri="{FF2B5EF4-FFF2-40B4-BE49-F238E27FC236}">
                <a16:creationId xmlns:a16="http://schemas.microsoft.com/office/drawing/2014/main" id="{7272A6A1-DF31-8F4F-9D9C-B2C639552E48}"/>
              </a:ext>
            </a:extLst>
          </p:cNvPr>
          <p:cNvSpPr>
            <a:spLocks noGrp="1"/>
          </p:cNvSpPr>
          <p:nvPr>
            <p:ph type="subTitle" idx="1"/>
          </p:nvPr>
        </p:nvSpPr>
        <p:spPr>
          <a:xfrm>
            <a:off x="876300" y="3767666"/>
            <a:ext cx="10287000" cy="3473678"/>
          </a:xfrm>
        </p:spPr>
        <p:txBody>
          <a:bodyPr>
            <a:normAutofit/>
          </a:bodyPr>
          <a:lstStyle/>
          <a:p>
            <a:pPr algn="l"/>
            <a:endParaRPr lang="en-US" dirty="0"/>
          </a:p>
          <a:p>
            <a:pPr algn="l"/>
            <a:r>
              <a:rPr lang="en-US" sz="2000" dirty="0"/>
              <a:t>Team </a:t>
            </a:r>
            <a:r>
              <a:rPr lang="en-US" sz="2000"/>
              <a:t>Members:</a:t>
            </a:r>
            <a:endParaRPr lang="en-US" sz="2000" dirty="0"/>
          </a:p>
          <a:p>
            <a:pPr marL="457200" indent="-457200" algn="l">
              <a:buAutoNum type="arabicPeriod"/>
            </a:pPr>
            <a:r>
              <a:rPr lang="en-US" sz="2000" dirty="0" err="1"/>
              <a:t>Hemalatha</a:t>
            </a:r>
            <a:r>
              <a:rPr lang="en-US" sz="2000" dirty="0"/>
              <a:t> v</a:t>
            </a:r>
          </a:p>
          <a:p>
            <a:pPr marL="457200" indent="-457200" algn="l">
              <a:buAutoNum type="arabicPeriod"/>
            </a:pPr>
            <a:r>
              <a:rPr lang="en-US" sz="2000" dirty="0" err="1"/>
              <a:t>Subasri</a:t>
            </a:r>
            <a:r>
              <a:rPr lang="en-US" sz="2000" dirty="0"/>
              <a:t> R						Under The Guidance of</a:t>
            </a:r>
          </a:p>
          <a:p>
            <a:pPr marL="457200" indent="-457200" algn="l">
              <a:buAutoNum type="arabicPeriod"/>
            </a:pPr>
            <a:r>
              <a:rPr lang="en-US" sz="2000" dirty="0"/>
              <a:t>Sriram S					                    Dr. S. </a:t>
            </a:r>
            <a:r>
              <a:rPr lang="en-US" sz="2000" dirty="0" err="1"/>
              <a:t>Tamilselvan</a:t>
            </a:r>
            <a:endParaRPr lang="en-US" sz="2000" dirty="0"/>
          </a:p>
          <a:p>
            <a:pPr marL="457200" indent="-457200" algn="l">
              <a:buAutoNum type="arabicPeriod"/>
            </a:pPr>
            <a:r>
              <a:rPr lang="en-US" sz="2000" dirty="0" err="1"/>
              <a:t>Sangeeth</a:t>
            </a:r>
            <a:r>
              <a:rPr lang="en-US" sz="2000" dirty="0"/>
              <a:t> </a:t>
            </a:r>
            <a:r>
              <a:rPr lang="en-US" sz="2000" dirty="0" err="1"/>
              <a:t>sreedharan</a:t>
            </a:r>
            <a:endParaRPr lang="en-US" sz="2000" dirty="0"/>
          </a:p>
          <a:p>
            <a:pPr algn="l"/>
            <a:r>
              <a:rPr lang="en-US" sz="2000" dirty="0"/>
              <a:t>								</a:t>
            </a:r>
          </a:p>
          <a:p>
            <a:pPr marL="457200" indent="-457200" algn="l">
              <a:buAutoNum type="arabicPeriod"/>
            </a:pPr>
            <a:endParaRPr lang="en-US" dirty="0"/>
          </a:p>
        </p:txBody>
      </p:sp>
    </p:spTree>
    <p:extLst>
      <p:ext uri="{BB962C8B-B14F-4D97-AF65-F5344CB8AC3E}">
        <p14:creationId xmlns:p14="http://schemas.microsoft.com/office/powerpoint/2010/main" val="2050792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0178"/>
            <a:ext cx="9603275" cy="1049235"/>
          </a:xfrm>
        </p:spPr>
        <p:txBody>
          <a:bodyPr/>
          <a:lstStyle/>
          <a:p>
            <a:r>
              <a:rPr lang="en-IN" dirty="0"/>
              <a:t>Content</a:t>
            </a:r>
          </a:p>
        </p:txBody>
      </p:sp>
      <p:sp>
        <p:nvSpPr>
          <p:cNvPr id="3" name="Content Placeholder 2"/>
          <p:cNvSpPr>
            <a:spLocks noGrp="1"/>
          </p:cNvSpPr>
          <p:nvPr>
            <p:ph idx="1"/>
          </p:nvPr>
        </p:nvSpPr>
        <p:spPr/>
        <p:txBody>
          <a:bodyPr>
            <a:normAutofit fontScale="92500" lnSpcReduction="20000"/>
          </a:bodyPr>
          <a:lstStyle/>
          <a:p>
            <a:r>
              <a:rPr lang="en-IN" dirty="0"/>
              <a:t>Introduction</a:t>
            </a:r>
          </a:p>
          <a:p>
            <a:r>
              <a:rPr lang="en-IN" dirty="0"/>
              <a:t>Objective</a:t>
            </a:r>
          </a:p>
          <a:p>
            <a:r>
              <a:rPr lang="en-IN" dirty="0"/>
              <a:t>Literature survey</a:t>
            </a:r>
          </a:p>
          <a:p>
            <a:r>
              <a:rPr lang="en-IN" dirty="0"/>
              <a:t>Limitations </a:t>
            </a:r>
          </a:p>
          <a:p>
            <a:r>
              <a:rPr lang="en-IN" dirty="0"/>
              <a:t>Overcoming Limitations</a:t>
            </a:r>
          </a:p>
          <a:p>
            <a:r>
              <a:rPr lang="en-IN" dirty="0"/>
              <a:t>Proposed block diagram</a:t>
            </a:r>
          </a:p>
          <a:p>
            <a:r>
              <a:rPr lang="en-IN" dirty="0"/>
              <a:t>Components</a:t>
            </a:r>
          </a:p>
          <a:p>
            <a:r>
              <a:rPr lang="en-IN" dirty="0"/>
              <a:t>Flow graph</a:t>
            </a:r>
          </a:p>
          <a:p>
            <a:r>
              <a:rPr lang="en-IN" dirty="0"/>
              <a:t>Working</a:t>
            </a:r>
          </a:p>
          <a:p>
            <a:r>
              <a:rPr lang="en-IN" dirty="0"/>
              <a:t>Conclusion </a:t>
            </a:r>
          </a:p>
          <a:p>
            <a:r>
              <a:rPr lang="en-IN" dirty="0"/>
              <a:t>References</a:t>
            </a:r>
          </a:p>
          <a:p>
            <a:endParaRPr lang="en-IN" dirty="0"/>
          </a:p>
          <a:p>
            <a:endParaRPr lang="en-IN" dirty="0"/>
          </a:p>
          <a:p>
            <a:pPr marL="0" indent="0">
              <a:buNone/>
            </a:pPr>
            <a:endParaRPr lang="en-IN" dirty="0"/>
          </a:p>
          <a:p>
            <a:endParaRPr lang="en-IN" dirty="0"/>
          </a:p>
        </p:txBody>
      </p:sp>
    </p:spTree>
    <p:extLst>
      <p:ext uri="{BB962C8B-B14F-4D97-AF65-F5344CB8AC3E}">
        <p14:creationId xmlns:p14="http://schemas.microsoft.com/office/powerpoint/2010/main" val="3972631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89E12-FE39-1048-9185-D74B9E321AF8}"/>
              </a:ext>
            </a:extLst>
          </p:cNvPr>
          <p:cNvSpPr>
            <a:spLocks noGrp="1"/>
          </p:cNvSpPr>
          <p:nvPr>
            <p:ph type="title"/>
          </p:nvPr>
        </p:nvSpPr>
        <p:spPr>
          <a:xfrm>
            <a:off x="345989" y="574589"/>
            <a:ext cx="10972800" cy="1066800"/>
          </a:xfrm>
        </p:spPr>
        <p:txBody>
          <a:bodyPr/>
          <a:lstStyle/>
          <a:p>
            <a:r>
              <a:rPr lang="en-US" dirty="0"/>
              <a:t>Introduction</a:t>
            </a:r>
          </a:p>
        </p:txBody>
      </p:sp>
      <p:sp>
        <p:nvSpPr>
          <p:cNvPr id="3" name="Content Placeholder 2">
            <a:extLst>
              <a:ext uri="{FF2B5EF4-FFF2-40B4-BE49-F238E27FC236}">
                <a16:creationId xmlns:a16="http://schemas.microsoft.com/office/drawing/2014/main" id="{9BD15E3F-3BA4-AB44-B859-A1CD2AFBDA36}"/>
              </a:ext>
            </a:extLst>
          </p:cNvPr>
          <p:cNvSpPr>
            <a:spLocks noGrp="1"/>
          </p:cNvSpPr>
          <p:nvPr>
            <p:ph idx="1"/>
          </p:nvPr>
        </p:nvSpPr>
        <p:spPr>
          <a:xfrm>
            <a:off x="345989" y="1853756"/>
            <a:ext cx="11279955" cy="4209589"/>
          </a:xfrm>
        </p:spPr>
        <p:txBody>
          <a:bodyPr>
            <a:normAutofit/>
          </a:bodyPr>
          <a:lstStyle/>
          <a:p>
            <a:pPr marL="0" indent="0" algn="just">
              <a:buNone/>
            </a:pPr>
            <a:r>
              <a:rPr lang="en-GB" dirty="0"/>
              <a:t>Why Nutrition Monitoring System?</a:t>
            </a:r>
          </a:p>
          <a:p>
            <a:pPr marL="0" indent="0" algn="just">
              <a:buNone/>
            </a:pPr>
            <a:r>
              <a:rPr lang="en-GB" dirty="0"/>
              <a:t>	A correct balance of nutrient intake is very important. When the body is deprived of essential nutrients, it can lead to serious disease and organ deterioration which can cause serious health issues.</a:t>
            </a:r>
          </a:p>
          <a:p>
            <a:pPr marL="0" indent="0" algn="just">
              <a:buNone/>
            </a:pPr>
            <a:endParaRPr lang="en-GB" dirty="0"/>
          </a:p>
          <a:p>
            <a:pPr marL="0" indent="0" algn="just">
              <a:buNone/>
            </a:pPr>
            <a:r>
              <a:rPr lang="en-GB" dirty="0"/>
              <a:t>Use of IoT and Deep-Learning in this system </a:t>
            </a:r>
          </a:p>
          <a:p>
            <a:pPr marL="457200" indent="-457200" algn="just"/>
            <a:r>
              <a:rPr lang="en-GB" dirty="0"/>
              <a:t>IoT is used for storing the database in the cloud server</a:t>
            </a:r>
          </a:p>
          <a:p>
            <a:pPr marL="457200" indent="-457200" algn="just"/>
            <a:r>
              <a:rPr lang="en-GB" dirty="0"/>
              <a:t>Deep-Learning for comparing and producing consolidated result</a:t>
            </a:r>
          </a:p>
          <a:p>
            <a:pPr marL="0" indent="0" algn="just">
              <a:buNone/>
            </a:pPr>
            <a:endParaRPr lang="en-GB" dirty="0"/>
          </a:p>
        </p:txBody>
      </p:sp>
    </p:spTree>
    <p:extLst>
      <p:ext uri="{BB962C8B-B14F-4D97-AF65-F5344CB8AC3E}">
        <p14:creationId xmlns:p14="http://schemas.microsoft.com/office/powerpoint/2010/main" val="421594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A210D-7C78-AF46-BDF6-8FC49A78BADC}"/>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6D6580F6-64E0-5442-BA2A-9F5C9E87E38B}"/>
              </a:ext>
            </a:extLst>
          </p:cNvPr>
          <p:cNvSpPr>
            <a:spLocks noGrp="1"/>
          </p:cNvSpPr>
          <p:nvPr>
            <p:ph idx="1"/>
          </p:nvPr>
        </p:nvSpPr>
        <p:spPr/>
        <p:txBody>
          <a:bodyPr/>
          <a:lstStyle/>
          <a:p>
            <a:pPr marL="109728" indent="0">
              <a:buNone/>
            </a:pPr>
            <a:endParaRPr lang="en-US" dirty="0"/>
          </a:p>
          <a:p>
            <a:pPr algn="just"/>
            <a:r>
              <a:rPr lang="en-US" dirty="0"/>
              <a:t>To propose </a:t>
            </a:r>
            <a:r>
              <a:rPr lang="en-GB" dirty="0"/>
              <a:t>automated monitoring of the nutritional content of food provided for both infants and for all age group of people using machine learning algorithms in the IoT</a:t>
            </a:r>
          </a:p>
          <a:p>
            <a:pPr marL="109728" indent="0" algn="just">
              <a:buNone/>
            </a:pPr>
            <a:endParaRPr lang="en-GB" dirty="0"/>
          </a:p>
          <a:p>
            <a:r>
              <a:rPr lang="en-GB" dirty="0"/>
              <a:t>Balanced diet along with stress level detection</a:t>
            </a:r>
            <a:endParaRPr lang="en-US" dirty="0"/>
          </a:p>
        </p:txBody>
      </p:sp>
    </p:spTree>
    <p:extLst>
      <p:ext uri="{BB962C8B-B14F-4D97-AF65-F5344CB8AC3E}">
        <p14:creationId xmlns:p14="http://schemas.microsoft.com/office/powerpoint/2010/main" val="1611235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55E03-F243-A14F-A0C2-358F4413BE89}"/>
              </a:ext>
            </a:extLst>
          </p:cNvPr>
          <p:cNvSpPr>
            <a:spLocks noGrp="1"/>
          </p:cNvSpPr>
          <p:nvPr>
            <p:ph type="title"/>
          </p:nvPr>
        </p:nvSpPr>
        <p:spPr>
          <a:xfrm>
            <a:off x="524932" y="670076"/>
            <a:ext cx="10972800" cy="1066800"/>
          </a:xfrm>
        </p:spPr>
        <p:txBody>
          <a:bodyPr/>
          <a:lstStyle/>
          <a:p>
            <a:r>
              <a:rPr lang="en-US" dirty="0"/>
              <a:t>Literature Survey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117975"/>
              </p:ext>
            </p:extLst>
          </p:nvPr>
        </p:nvGraphicFramePr>
        <p:xfrm>
          <a:off x="448731" y="2100943"/>
          <a:ext cx="10807097" cy="4604752"/>
        </p:xfrm>
        <a:graphic>
          <a:graphicData uri="http://schemas.openxmlformats.org/drawingml/2006/table">
            <a:tbl>
              <a:tblPr firstRow="1" bandRow="1">
                <a:tableStyleId>{5C22544A-7EE6-4342-B048-85BDC9FD1C3A}</a:tableStyleId>
              </a:tblPr>
              <a:tblGrid>
                <a:gridCol w="1630440">
                  <a:extLst>
                    <a:ext uri="{9D8B030D-6E8A-4147-A177-3AD203B41FA5}">
                      <a16:colId xmlns:a16="http://schemas.microsoft.com/office/drawing/2014/main" val="20000"/>
                    </a:ext>
                  </a:extLst>
                </a:gridCol>
                <a:gridCol w="2416629">
                  <a:extLst>
                    <a:ext uri="{9D8B030D-6E8A-4147-A177-3AD203B41FA5}">
                      <a16:colId xmlns:a16="http://schemas.microsoft.com/office/drawing/2014/main" val="20001"/>
                    </a:ext>
                  </a:extLst>
                </a:gridCol>
                <a:gridCol w="2562651">
                  <a:extLst>
                    <a:ext uri="{9D8B030D-6E8A-4147-A177-3AD203B41FA5}">
                      <a16:colId xmlns:a16="http://schemas.microsoft.com/office/drawing/2014/main" val="20002"/>
                    </a:ext>
                  </a:extLst>
                </a:gridCol>
                <a:gridCol w="4197377">
                  <a:extLst>
                    <a:ext uri="{9D8B030D-6E8A-4147-A177-3AD203B41FA5}">
                      <a16:colId xmlns:a16="http://schemas.microsoft.com/office/drawing/2014/main" val="20003"/>
                    </a:ext>
                  </a:extLst>
                </a:gridCol>
              </a:tblGrid>
              <a:tr h="398512">
                <a:tc>
                  <a:txBody>
                    <a:bodyPr/>
                    <a:lstStyle/>
                    <a:p>
                      <a:r>
                        <a:rPr lang="en-IN" dirty="0"/>
                        <a:t>SL.NO </a:t>
                      </a:r>
                    </a:p>
                  </a:txBody>
                  <a:tcPr/>
                </a:tc>
                <a:tc>
                  <a:txBody>
                    <a:bodyPr/>
                    <a:lstStyle/>
                    <a:p>
                      <a:r>
                        <a:rPr lang="en-IN" dirty="0"/>
                        <a:t>TITLE</a:t>
                      </a:r>
                    </a:p>
                  </a:txBody>
                  <a:tcPr/>
                </a:tc>
                <a:tc>
                  <a:txBody>
                    <a:bodyPr/>
                    <a:lstStyle/>
                    <a:p>
                      <a:r>
                        <a:rPr lang="en-IN" dirty="0"/>
                        <a:t>AUTHOR</a:t>
                      </a:r>
                    </a:p>
                  </a:txBody>
                  <a:tcPr/>
                </a:tc>
                <a:tc>
                  <a:txBody>
                    <a:bodyPr/>
                    <a:lstStyle/>
                    <a:p>
                      <a:r>
                        <a:rPr lang="en-IN" dirty="0"/>
                        <a:t>DESCRIPTION</a:t>
                      </a:r>
                    </a:p>
                  </a:txBody>
                  <a:tcPr/>
                </a:tc>
                <a:extLst>
                  <a:ext uri="{0D108BD9-81ED-4DB2-BD59-A6C34878D82A}">
                    <a16:rowId xmlns:a16="http://schemas.microsoft.com/office/drawing/2014/main" val="10000"/>
                  </a:ext>
                </a:extLst>
              </a:tr>
              <a:tr h="3074031">
                <a:tc>
                  <a:txBody>
                    <a:bodyPr/>
                    <a:lstStyle/>
                    <a:p>
                      <a:pPr algn="l"/>
                      <a:r>
                        <a:rPr lang="en-IN" dirty="0"/>
                        <a:t>1</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r>
                        <a:rPr lang="en-IN" dirty="0"/>
                        <a:t>2</a:t>
                      </a:r>
                    </a:p>
                    <a:p>
                      <a:pPr algn="l"/>
                      <a:endParaRPr lang="en-IN" dirty="0"/>
                    </a:p>
                    <a:p>
                      <a:endParaRPr lang="en-IN" dirty="0"/>
                    </a:p>
                    <a:p>
                      <a:endParaRPr lang="en-IN" dirty="0"/>
                    </a:p>
                    <a:p>
                      <a:endParaRPr lang="en-IN" dirty="0"/>
                    </a:p>
                    <a:p>
                      <a:endParaRPr lang="en-IN" dirty="0"/>
                    </a:p>
                    <a:p>
                      <a:endParaRPr lang="en-IN" dirty="0"/>
                    </a:p>
                  </a:txBody>
                  <a:tcPr/>
                </a:tc>
                <a:tc>
                  <a:txBody>
                    <a:bodyPr/>
                    <a:lstStyle/>
                    <a:p>
                      <a:r>
                        <a:rPr lang="en-IN" dirty="0"/>
                        <a:t>Nutrition</a:t>
                      </a:r>
                      <a:r>
                        <a:rPr lang="en-IN" baseline="0" dirty="0"/>
                        <a:t> Monitoring System using IoT</a:t>
                      </a:r>
                    </a:p>
                    <a:p>
                      <a:endParaRPr lang="en-IN" baseline="0" dirty="0"/>
                    </a:p>
                    <a:p>
                      <a:endParaRPr lang="en-IN" baseline="0" dirty="0"/>
                    </a:p>
                    <a:p>
                      <a:endParaRPr lang="en-IN" baseline="0" dirty="0"/>
                    </a:p>
                    <a:p>
                      <a:endParaRPr lang="en-IN" baseline="0" dirty="0"/>
                    </a:p>
                    <a:p>
                      <a:endParaRPr lang="en-IN" baseline="0" dirty="0"/>
                    </a:p>
                    <a:p>
                      <a:r>
                        <a:rPr lang="en-GB" dirty="0"/>
                        <a:t>Wearable Food Intake Monitoring Technologies</a:t>
                      </a:r>
                      <a:endParaRPr lang="en-IN" baseline="0" dirty="0"/>
                    </a:p>
                    <a:p>
                      <a:endParaRPr lang="en-IN" baseline="0" dirty="0"/>
                    </a:p>
                    <a:p>
                      <a:endParaRPr lang="en-IN" baseline="0" dirty="0"/>
                    </a:p>
                    <a:p>
                      <a:endParaRPr lang="en-IN" baseline="0" dirty="0"/>
                    </a:p>
                    <a:p>
                      <a:endParaRPr lang="en-IN" baseline="0" dirty="0"/>
                    </a:p>
                    <a:p>
                      <a:endParaRPr lang="en-IN" baseline="0" dirty="0"/>
                    </a:p>
                  </a:txBody>
                  <a:tcPr/>
                </a:tc>
                <a:tc>
                  <a:txBody>
                    <a:bodyPr/>
                    <a:lstStyle/>
                    <a:p>
                      <a:r>
                        <a:rPr lang="en-IN" dirty="0" err="1"/>
                        <a:t>Prabha</a:t>
                      </a:r>
                      <a:r>
                        <a:rPr lang="en-IN" baseline="0" dirty="0"/>
                        <a:t> Sundaravadivel and </a:t>
                      </a:r>
                      <a:r>
                        <a:rPr lang="en-IN" baseline="0" dirty="0" err="1"/>
                        <a:t>kavya</a:t>
                      </a:r>
                      <a:r>
                        <a:rPr lang="en-IN" baseline="0" dirty="0"/>
                        <a:t> </a:t>
                      </a:r>
                      <a:r>
                        <a:rPr lang="en-IN" baseline="0" dirty="0" err="1"/>
                        <a:t>kesavan</a:t>
                      </a:r>
                      <a:r>
                        <a:rPr lang="en-IN" baseline="0" dirty="0"/>
                        <a:t>,</a:t>
                      </a:r>
                    </a:p>
                    <a:p>
                      <a:r>
                        <a:rPr lang="en-IN" baseline="0" dirty="0"/>
                        <a:t>2018</a:t>
                      </a:r>
                    </a:p>
                    <a:p>
                      <a:endParaRPr lang="en-IN" baseline="0" dirty="0"/>
                    </a:p>
                    <a:p>
                      <a:endParaRPr lang="en-IN" baseline="0" dirty="0"/>
                    </a:p>
                    <a:p>
                      <a:endParaRPr lang="en-IN" baseline="0" dirty="0"/>
                    </a:p>
                    <a:p>
                      <a:endParaRPr lang="en-IN" baseline="0" dirty="0"/>
                    </a:p>
                    <a:p>
                      <a:r>
                        <a:rPr lang="en-GB" dirty="0"/>
                        <a:t>T. Vu, F. Lin, </a:t>
                      </a:r>
                    </a:p>
                    <a:p>
                      <a:r>
                        <a:rPr lang="en-GB" dirty="0"/>
                        <a:t>N. </a:t>
                      </a:r>
                      <a:r>
                        <a:rPr lang="en-GB" dirty="0" err="1"/>
                        <a:t>Alshurafa</a:t>
                      </a:r>
                      <a:r>
                        <a:rPr lang="en-GB" dirty="0"/>
                        <a:t> and </a:t>
                      </a:r>
                    </a:p>
                    <a:p>
                      <a:r>
                        <a:rPr lang="en-GB" dirty="0"/>
                        <a:t>W. Xu</a:t>
                      </a:r>
                      <a:endParaRPr lang="en-IN" baseline="0" dirty="0"/>
                    </a:p>
                  </a:txBody>
                  <a:tcPr/>
                </a:tc>
                <a:tc>
                  <a:txBody>
                    <a:bodyPr/>
                    <a:lstStyle/>
                    <a:p>
                      <a:pPr algn="just"/>
                      <a:r>
                        <a:rPr lang="en-IN" dirty="0"/>
                        <a:t>Nutrition monitoring system</a:t>
                      </a:r>
                      <a:r>
                        <a:rPr lang="en-IN" baseline="0" dirty="0"/>
                        <a:t> for infants using Smart-Log by sensing amount of nutrients in food and suggesting the balanced diet for end user</a:t>
                      </a:r>
                    </a:p>
                    <a:p>
                      <a:endParaRPr lang="en-IN" baseline="0" dirty="0"/>
                    </a:p>
                    <a:p>
                      <a:endParaRPr lang="en-IN" baseline="0" dirty="0"/>
                    </a:p>
                    <a:p>
                      <a:endParaRPr lang="en-IN" baseline="0" dirty="0"/>
                    </a:p>
                    <a:p>
                      <a:pPr algn="l"/>
                      <a:r>
                        <a:rPr lang="en-IN" baseline="0" dirty="0"/>
                        <a:t>Food Monitoring System using Wearable electronic devices and suggesting the required diet.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1156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D0EB3-6085-1B4A-AA09-8BBDC04ECC5E}"/>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0F252A4B-CE96-6345-9C25-74E6FA6B06C7}"/>
              </a:ext>
            </a:extLst>
          </p:cNvPr>
          <p:cNvSpPr>
            <a:spLocks noGrp="1"/>
          </p:cNvSpPr>
          <p:nvPr>
            <p:ph idx="1"/>
          </p:nvPr>
        </p:nvSpPr>
        <p:spPr/>
        <p:txBody>
          <a:bodyPr/>
          <a:lstStyle/>
          <a:p>
            <a:endParaRPr lang="en-US" dirty="0"/>
          </a:p>
          <a:p>
            <a:r>
              <a:rPr lang="en-US" dirty="0"/>
              <a:t>The existing system only focuses on infants with small number of database set</a:t>
            </a:r>
          </a:p>
          <a:p>
            <a:endParaRPr lang="en-US" dirty="0"/>
          </a:p>
          <a:p>
            <a:r>
              <a:rPr lang="en-US" dirty="0"/>
              <a:t>It does not involve any physical monitoring parameters </a:t>
            </a:r>
          </a:p>
          <a:p>
            <a:endParaRPr lang="en-US" dirty="0"/>
          </a:p>
          <a:p>
            <a:r>
              <a:rPr lang="en-US" dirty="0"/>
              <a:t>No mechanisms to keep track of user activities for accurate automated prediction of diet </a:t>
            </a:r>
            <a:endParaRPr lang="en-IN" dirty="0"/>
          </a:p>
          <a:p>
            <a:endParaRPr lang="en-US" dirty="0"/>
          </a:p>
        </p:txBody>
      </p:sp>
    </p:spTree>
    <p:extLst>
      <p:ext uri="{BB962C8B-B14F-4D97-AF65-F5344CB8AC3E}">
        <p14:creationId xmlns:p14="http://schemas.microsoft.com/office/powerpoint/2010/main" val="4112892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39894-ACDB-D34C-9B59-ED84D8A2E52E}"/>
              </a:ext>
            </a:extLst>
          </p:cNvPr>
          <p:cNvSpPr>
            <a:spLocks noGrp="1"/>
          </p:cNvSpPr>
          <p:nvPr>
            <p:ph type="title"/>
          </p:nvPr>
        </p:nvSpPr>
        <p:spPr/>
        <p:txBody>
          <a:bodyPr/>
          <a:lstStyle/>
          <a:p>
            <a:r>
              <a:rPr lang="en-US" dirty="0"/>
              <a:t>Overcoming Limitations</a:t>
            </a:r>
          </a:p>
        </p:txBody>
      </p:sp>
      <p:sp>
        <p:nvSpPr>
          <p:cNvPr id="3" name="Content Placeholder 2">
            <a:extLst>
              <a:ext uri="{FF2B5EF4-FFF2-40B4-BE49-F238E27FC236}">
                <a16:creationId xmlns:a16="http://schemas.microsoft.com/office/drawing/2014/main" id="{43E6E02D-CFEF-5A4A-86F6-559774EECD6B}"/>
              </a:ext>
            </a:extLst>
          </p:cNvPr>
          <p:cNvSpPr>
            <a:spLocks noGrp="1"/>
          </p:cNvSpPr>
          <p:nvPr>
            <p:ph idx="1"/>
          </p:nvPr>
        </p:nvSpPr>
        <p:spPr/>
        <p:txBody>
          <a:bodyPr/>
          <a:lstStyle/>
          <a:p>
            <a:r>
              <a:rPr lang="en-US" dirty="0"/>
              <a:t>Data set is expanded from infants to all age group  people by increasing the dataset in cloud storage</a:t>
            </a:r>
          </a:p>
          <a:p>
            <a:endParaRPr lang="en-US" dirty="0"/>
          </a:p>
          <a:p>
            <a:r>
              <a:rPr lang="en-US" dirty="0"/>
              <a:t>Physical monitoring parameter like stress monitoring is included in this project</a:t>
            </a:r>
          </a:p>
          <a:p>
            <a:endParaRPr lang="en-US" dirty="0"/>
          </a:p>
          <a:p>
            <a:r>
              <a:rPr lang="en-US" dirty="0"/>
              <a:t>The physical monitoring system will help us to provide perfect balanced diet to the user</a:t>
            </a:r>
          </a:p>
          <a:p>
            <a:endParaRPr lang="en-US" dirty="0"/>
          </a:p>
        </p:txBody>
      </p:sp>
    </p:spTree>
    <p:extLst>
      <p:ext uri="{BB962C8B-B14F-4D97-AF65-F5344CB8AC3E}">
        <p14:creationId xmlns:p14="http://schemas.microsoft.com/office/powerpoint/2010/main" val="1173089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block diagram</a:t>
            </a:r>
          </a:p>
        </p:txBody>
      </p:sp>
      <p:sp>
        <p:nvSpPr>
          <p:cNvPr id="4" name="Rectangle 3"/>
          <p:cNvSpPr/>
          <p:nvPr/>
        </p:nvSpPr>
        <p:spPr>
          <a:xfrm>
            <a:off x="1189567" y="2789596"/>
            <a:ext cx="1651000" cy="95673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5" name="TextBox 4"/>
          <p:cNvSpPr txBox="1"/>
          <p:nvPr/>
        </p:nvSpPr>
        <p:spPr>
          <a:xfrm>
            <a:off x="1354667" y="2907437"/>
            <a:ext cx="1320800" cy="646331"/>
          </a:xfrm>
          <a:prstGeom prst="rect">
            <a:avLst/>
          </a:prstGeom>
          <a:noFill/>
        </p:spPr>
        <p:txBody>
          <a:bodyPr wrap="square" rtlCol="0">
            <a:spAutoFit/>
          </a:bodyPr>
          <a:lstStyle/>
          <a:p>
            <a:r>
              <a:rPr lang="en-IN" sz="1200" dirty="0"/>
              <a:t>FOOD WEIGHING SENSOR</a:t>
            </a:r>
          </a:p>
        </p:txBody>
      </p:sp>
      <p:sp>
        <p:nvSpPr>
          <p:cNvPr id="6" name="Rectangle 5"/>
          <p:cNvSpPr/>
          <p:nvPr/>
        </p:nvSpPr>
        <p:spPr>
          <a:xfrm>
            <a:off x="3505200" y="2764598"/>
            <a:ext cx="1651000" cy="95673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7" name="Rectangle 6"/>
          <p:cNvSpPr/>
          <p:nvPr/>
        </p:nvSpPr>
        <p:spPr>
          <a:xfrm>
            <a:off x="5638801" y="2781300"/>
            <a:ext cx="1651000" cy="95673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9" name="Rectangle 8"/>
          <p:cNvSpPr/>
          <p:nvPr/>
        </p:nvSpPr>
        <p:spPr>
          <a:xfrm>
            <a:off x="8208893" y="4894934"/>
            <a:ext cx="1651000" cy="95673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10" name="TextBox 9"/>
          <p:cNvSpPr txBox="1"/>
          <p:nvPr/>
        </p:nvSpPr>
        <p:spPr>
          <a:xfrm>
            <a:off x="8373993" y="5234801"/>
            <a:ext cx="1320800" cy="461665"/>
          </a:xfrm>
          <a:prstGeom prst="rect">
            <a:avLst/>
          </a:prstGeom>
          <a:noFill/>
        </p:spPr>
        <p:txBody>
          <a:bodyPr wrap="square" rtlCol="0">
            <a:spAutoFit/>
          </a:bodyPr>
          <a:lstStyle/>
          <a:p>
            <a:r>
              <a:rPr lang="en-IN" sz="1200" dirty="0"/>
              <a:t>WRIST WATCH</a:t>
            </a:r>
          </a:p>
          <a:p>
            <a:pPr algn="ctr"/>
            <a:r>
              <a:rPr lang="en-IN" sz="1200" dirty="0"/>
              <a:t>(USER)</a:t>
            </a:r>
          </a:p>
        </p:txBody>
      </p:sp>
      <p:sp>
        <p:nvSpPr>
          <p:cNvPr id="12" name="TextBox 11"/>
          <p:cNvSpPr txBox="1"/>
          <p:nvPr/>
        </p:nvSpPr>
        <p:spPr>
          <a:xfrm>
            <a:off x="5803901" y="2999769"/>
            <a:ext cx="1320800" cy="461665"/>
          </a:xfrm>
          <a:prstGeom prst="rect">
            <a:avLst/>
          </a:prstGeom>
          <a:noFill/>
        </p:spPr>
        <p:txBody>
          <a:bodyPr wrap="square" rtlCol="0">
            <a:spAutoFit/>
          </a:bodyPr>
          <a:lstStyle/>
          <a:p>
            <a:r>
              <a:rPr lang="en-IN" sz="1200" dirty="0"/>
              <a:t>WIRELESS MODULE</a:t>
            </a:r>
          </a:p>
        </p:txBody>
      </p:sp>
      <p:sp>
        <p:nvSpPr>
          <p:cNvPr id="13" name="TextBox 12"/>
          <p:cNvSpPr txBox="1"/>
          <p:nvPr/>
        </p:nvSpPr>
        <p:spPr>
          <a:xfrm>
            <a:off x="3505200" y="3091905"/>
            <a:ext cx="1651000" cy="261610"/>
          </a:xfrm>
          <a:prstGeom prst="rect">
            <a:avLst/>
          </a:prstGeom>
          <a:noFill/>
        </p:spPr>
        <p:txBody>
          <a:bodyPr wrap="square" rtlCol="0">
            <a:spAutoFit/>
          </a:bodyPr>
          <a:lstStyle/>
          <a:p>
            <a:r>
              <a:rPr lang="en-IN" sz="1100" dirty="0"/>
              <a:t>MICROCONTROLLER</a:t>
            </a:r>
          </a:p>
        </p:txBody>
      </p:sp>
      <p:sp>
        <p:nvSpPr>
          <p:cNvPr id="14" name="Right Arrow 13"/>
          <p:cNvSpPr/>
          <p:nvPr/>
        </p:nvSpPr>
        <p:spPr>
          <a:xfrm>
            <a:off x="3031066" y="3149430"/>
            <a:ext cx="330200" cy="203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Arrow 14"/>
          <p:cNvSpPr/>
          <p:nvPr/>
        </p:nvSpPr>
        <p:spPr>
          <a:xfrm>
            <a:off x="5249333" y="3166363"/>
            <a:ext cx="330200" cy="203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Arrow 15"/>
          <p:cNvSpPr/>
          <p:nvPr/>
        </p:nvSpPr>
        <p:spPr>
          <a:xfrm>
            <a:off x="7395635" y="3215901"/>
            <a:ext cx="330200" cy="203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Cloud 17"/>
          <p:cNvSpPr/>
          <p:nvPr/>
        </p:nvSpPr>
        <p:spPr>
          <a:xfrm>
            <a:off x="7747002" y="2551496"/>
            <a:ext cx="2046818" cy="1432933"/>
          </a:xfrm>
          <a:prstGeom prst="cloud">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9" name="TextBox 18"/>
          <p:cNvSpPr txBox="1"/>
          <p:nvPr/>
        </p:nvSpPr>
        <p:spPr>
          <a:xfrm>
            <a:off x="8080377" y="2907437"/>
            <a:ext cx="1380067" cy="1015663"/>
          </a:xfrm>
          <a:prstGeom prst="rect">
            <a:avLst/>
          </a:prstGeom>
          <a:noFill/>
        </p:spPr>
        <p:txBody>
          <a:bodyPr wrap="square" rtlCol="0">
            <a:spAutoFit/>
          </a:bodyPr>
          <a:lstStyle/>
          <a:p>
            <a:r>
              <a:rPr lang="en-IN" sz="1200" dirty="0"/>
              <a:t>CLOUD SERVER ALONG WITH FOOD DATABASE</a:t>
            </a:r>
          </a:p>
          <a:p>
            <a:endParaRPr lang="en-IN" sz="1200" dirty="0"/>
          </a:p>
        </p:txBody>
      </p:sp>
      <p:sp>
        <p:nvSpPr>
          <p:cNvPr id="3" name="Up-Down Arrow 2">
            <a:extLst>
              <a:ext uri="{FF2B5EF4-FFF2-40B4-BE49-F238E27FC236}">
                <a16:creationId xmlns:a16="http://schemas.microsoft.com/office/drawing/2014/main" id="{2BC7AC55-C048-D94E-8202-7E59D2E212B1}"/>
              </a:ext>
            </a:extLst>
          </p:cNvPr>
          <p:cNvSpPr/>
          <p:nvPr/>
        </p:nvSpPr>
        <p:spPr>
          <a:xfrm>
            <a:off x="8871857" y="3984429"/>
            <a:ext cx="214718" cy="84882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0914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5361B-C477-2A45-9CFB-8D34225D1415}"/>
              </a:ext>
            </a:extLst>
          </p:cNvPr>
          <p:cNvSpPr>
            <a:spLocks noGrp="1"/>
          </p:cNvSpPr>
          <p:nvPr>
            <p:ph type="title"/>
          </p:nvPr>
        </p:nvSpPr>
        <p:spPr>
          <a:xfrm>
            <a:off x="609600" y="1143000"/>
            <a:ext cx="10972800" cy="1066800"/>
          </a:xfrm>
        </p:spPr>
        <p:txBody>
          <a:bodyPr/>
          <a:lstStyle/>
          <a:p>
            <a:r>
              <a:rPr lang="en-US" dirty="0"/>
              <a:t>Components</a:t>
            </a:r>
          </a:p>
        </p:txBody>
      </p:sp>
      <p:sp>
        <p:nvSpPr>
          <p:cNvPr id="3" name="Content Placeholder 2">
            <a:extLst>
              <a:ext uri="{FF2B5EF4-FFF2-40B4-BE49-F238E27FC236}">
                <a16:creationId xmlns:a16="http://schemas.microsoft.com/office/drawing/2014/main" id="{4AF1B34E-BB39-C045-BDDF-6DAC6A7991B7}"/>
              </a:ext>
            </a:extLst>
          </p:cNvPr>
          <p:cNvSpPr>
            <a:spLocks noGrp="1"/>
          </p:cNvSpPr>
          <p:nvPr>
            <p:ph idx="1"/>
          </p:nvPr>
        </p:nvSpPr>
        <p:spPr>
          <a:xfrm>
            <a:off x="609600" y="2249424"/>
            <a:ext cx="10972800" cy="4325112"/>
          </a:xfrm>
        </p:spPr>
        <p:txBody>
          <a:bodyPr/>
          <a:lstStyle/>
          <a:p>
            <a:endParaRPr lang="en-US" dirty="0"/>
          </a:p>
          <a:p>
            <a:r>
              <a:rPr lang="en-US" dirty="0"/>
              <a:t>Food weighing sensor</a:t>
            </a:r>
          </a:p>
          <a:p>
            <a:r>
              <a:rPr lang="en-US" dirty="0"/>
              <a:t>Microcontroller</a:t>
            </a:r>
          </a:p>
          <a:p>
            <a:r>
              <a:rPr lang="en-US" dirty="0"/>
              <a:t>Wireless module</a:t>
            </a:r>
          </a:p>
          <a:p>
            <a:r>
              <a:rPr lang="en-US" dirty="0"/>
              <a:t>Cloud server with food database</a:t>
            </a:r>
          </a:p>
          <a:p>
            <a:r>
              <a:rPr lang="en-US" dirty="0"/>
              <a:t>Wrist watch</a:t>
            </a:r>
          </a:p>
        </p:txBody>
      </p:sp>
    </p:spTree>
    <p:extLst>
      <p:ext uri="{BB962C8B-B14F-4D97-AF65-F5344CB8AC3E}">
        <p14:creationId xmlns:p14="http://schemas.microsoft.com/office/powerpoint/2010/main" val="2720886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8667" y="601133"/>
            <a:ext cx="10972800" cy="1066800"/>
          </a:xfrm>
        </p:spPr>
        <p:txBody>
          <a:bodyPr/>
          <a:lstStyle/>
          <a:p>
            <a:r>
              <a:rPr lang="en-IN" dirty="0"/>
              <a:t>Flow graph</a:t>
            </a:r>
          </a:p>
        </p:txBody>
      </p:sp>
      <p:sp>
        <p:nvSpPr>
          <p:cNvPr id="8" name="Rounded Rectangle 7"/>
          <p:cNvSpPr/>
          <p:nvPr/>
        </p:nvSpPr>
        <p:spPr>
          <a:xfrm>
            <a:off x="5689600" y="1380066"/>
            <a:ext cx="1320800" cy="54186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9" name="Rectangle 8"/>
          <p:cNvSpPr/>
          <p:nvPr/>
        </p:nvSpPr>
        <p:spPr>
          <a:xfrm>
            <a:off x="5128381" y="2191639"/>
            <a:ext cx="2573866" cy="846666"/>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dirty="0"/>
          </a:p>
        </p:txBody>
      </p:sp>
      <p:sp>
        <p:nvSpPr>
          <p:cNvPr id="10" name="Rectangle 9"/>
          <p:cNvSpPr/>
          <p:nvPr/>
        </p:nvSpPr>
        <p:spPr>
          <a:xfrm>
            <a:off x="5130801" y="3302001"/>
            <a:ext cx="2573866" cy="77046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1" name="Rectangle 10"/>
          <p:cNvSpPr/>
          <p:nvPr/>
        </p:nvSpPr>
        <p:spPr>
          <a:xfrm>
            <a:off x="5164668" y="4394200"/>
            <a:ext cx="2573866" cy="956733"/>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IN"/>
          </a:p>
        </p:txBody>
      </p:sp>
      <p:sp>
        <p:nvSpPr>
          <p:cNvPr id="13" name="Flowchart: Data 12"/>
          <p:cNvSpPr/>
          <p:nvPr/>
        </p:nvSpPr>
        <p:spPr>
          <a:xfrm>
            <a:off x="2751666" y="3479800"/>
            <a:ext cx="1998134" cy="668867"/>
          </a:xfrm>
          <a:prstGeom prst="flowChartInputOutpu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4" name="Flowchart: Data 13"/>
          <p:cNvSpPr/>
          <p:nvPr/>
        </p:nvSpPr>
        <p:spPr>
          <a:xfrm>
            <a:off x="3208867" y="1380066"/>
            <a:ext cx="1998134" cy="668867"/>
          </a:xfrm>
          <a:prstGeom prst="flowChartInputOutpu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15" name="Flowchart: Data 14"/>
          <p:cNvSpPr/>
          <p:nvPr/>
        </p:nvSpPr>
        <p:spPr>
          <a:xfrm>
            <a:off x="5350933" y="5672666"/>
            <a:ext cx="2167467" cy="668867"/>
          </a:xfrm>
          <a:prstGeom prst="flowChartInputOutp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6" name="Down Arrow 15"/>
          <p:cNvSpPr/>
          <p:nvPr/>
        </p:nvSpPr>
        <p:spPr>
          <a:xfrm>
            <a:off x="6349999" y="1938672"/>
            <a:ext cx="45719" cy="253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Down Arrow 16"/>
          <p:cNvSpPr/>
          <p:nvPr/>
        </p:nvSpPr>
        <p:spPr>
          <a:xfrm>
            <a:off x="6327140" y="3046772"/>
            <a:ext cx="45719" cy="2382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Down Arrow 17"/>
          <p:cNvSpPr/>
          <p:nvPr/>
        </p:nvSpPr>
        <p:spPr>
          <a:xfrm>
            <a:off x="6372860" y="4072467"/>
            <a:ext cx="46084" cy="3217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Down Arrow 18"/>
          <p:cNvSpPr/>
          <p:nvPr/>
        </p:nvSpPr>
        <p:spPr>
          <a:xfrm>
            <a:off x="6463453" y="5402232"/>
            <a:ext cx="45719" cy="2539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ight Arrow 19"/>
          <p:cNvSpPr/>
          <p:nvPr/>
        </p:nvSpPr>
        <p:spPr>
          <a:xfrm>
            <a:off x="4749799" y="3716865"/>
            <a:ext cx="304801" cy="63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ight Arrow 20"/>
          <p:cNvSpPr/>
          <p:nvPr/>
        </p:nvSpPr>
        <p:spPr>
          <a:xfrm>
            <a:off x="5257799" y="1604433"/>
            <a:ext cx="338668" cy="127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p:cNvSpPr txBox="1"/>
          <p:nvPr/>
        </p:nvSpPr>
        <p:spPr>
          <a:xfrm>
            <a:off x="5833533" y="1439333"/>
            <a:ext cx="1109134" cy="369332"/>
          </a:xfrm>
          <a:prstGeom prst="rect">
            <a:avLst/>
          </a:prstGeom>
          <a:noFill/>
        </p:spPr>
        <p:txBody>
          <a:bodyPr wrap="square" rtlCol="0">
            <a:spAutoFit/>
          </a:bodyPr>
          <a:lstStyle/>
          <a:p>
            <a:pPr algn="ctr"/>
            <a:r>
              <a:rPr lang="en-US" dirty="0"/>
              <a:t>Start</a:t>
            </a:r>
            <a:endParaRPr lang="en-IN" dirty="0"/>
          </a:p>
        </p:txBody>
      </p:sp>
      <p:sp>
        <p:nvSpPr>
          <p:cNvPr id="24" name="TextBox 23"/>
          <p:cNvSpPr txBox="1"/>
          <p:nvPr/>
        </p:nvSpPr>
        <p:spPr>
          <a:xfrm>
            <a:off x="5175554" y="2285367"/>
            <a:ext cx="2328334" cy="830997"/>
          </a:xfrm>
          <a:prstGeom prst="rect">
            <a:avLst/>
          </a:prstGeom>
          <a:noFill/>
        </p:spPr>
        <p:txBody>
          <a:bodyPr wrap="square" rtlCol="0">
            <a:spAutoFit/>
          </a:bodyPr>
          <a:lstStyle/>
          <a:p>
            <a:pPr algn="ctr"/>
            <a:r>
              <a:rPr lang="en-US" sz="1200" dirty="0"/>
              <a:t>Automatic Nutrition Quantification of Food item using Food Weighing Sensor</a:t>
            </a:r>
            <a:endParaRPr lang="en-IN" sz="1200" dirty="0"/>
          </a:p>
          <a:p>
            <a:endParaRPr lang="en-IN" sz="1200" dirty="0"/>
          </a:p>
        </p:txBody>
      </p:sp>
      <p:sp>
        <p:nvSpPr>
          <p:cNvPr id="25" name="TextBox 24"/>
          <p:cNvSpPr txBox="1"/>
          <p:nvPr/>
        </p:nvSpPr>
        <p:spPr>
          <a:xfrm>
            <a:off x="5327224" y="3289902"/>
            <a:ext cx="2091268" cy="830997"/>
          </a:xfrm>
          <a:prstGeom prst="rect">
            <a:avLst/>
          </a:prstGeom>
          <a:noFill/>
        </p:spPr>
        <p:txBody>
          <a:bodyPr wrap="square" rtlCol="0">
            <a:spAutoFit/>
          </a:bodyPr>
          <a:lstStyle/>
          <a:p>
            <a:pPr algn="ctr"/>
            <a:r>
              <a:rPr lang="en-US" sz="1200" dirty="0"/>
              <a:t>Classify the food item based on Nutrition information using Bayesian Network.</a:t>
            </a:r>
            <a:endParaRPr lang="en-IN" sz="1200" dirty="0"/>
          </a:p>
          <a:p>
            <a:pPr algn="ctr"/>
            <a:endParaRPr lang="en-IN" sz="1200" dirty="0"/>
          </a:p>
        </p:txBody>
      </p:sp>
      <p:sp>
        <p:nvSpPr>
          <p:cNvPr id="26" name="TextBox 25"/>
          <p:cNvSpPr txBox="1"/>
          <p:nvPr/>
        </p:nvSpPr>
        <p:spPr>
          <a:xfrm>
            <a:off x="5350933" y="4394200"/>
            <a:ext cx="2167467" cy="1015663"/>
          </a:xfrm>
          <a:prstGeom prst="rect">
            <a:avLst/>
          </a:prstGeom>
          <a:noFill/>
        </p:spPr>
        <p:txBody>
          <a:bodyPr wrap="square" rtlCol="0">
            <a:spAutoFit/>
          </a:bodyPr>
          <a:lstStyle/>
          <a:p>
            <a:pPr algn="ctr"/>
            <a:r>
              <a:rPr lang="en-US" sz="1200" dirty="0"/>
              <a:t>Predict next meal using 5-layer Nutritional Balance Network based on Perceptron Neural Network</a:t>
            </a:r>
            <a:endParaRPr lang="en-IN" sz="1200" dirty="0"/>
          </a:p>
          <a:p>
            <a:endParaRPr lang="en-IN" sz="1200" dirty="0"/>
          </a:p>
        </p:txBody>
      </p:sp>
      <p:sp>
        <p:nvSpPr>
          <p:cNvPr id="27" name="TextBox 26"/>
          <p:cNvSpPr txBox="1"/>
          <p:nvPr/>
        </p:nvSpPr>
        <p:spPr>
          <a:xfrm>
            <a:off x="5841151" y="5787152"/>
            <a:ext cx="1109134" cy="461665"/>
          </a:xfrm>
          <a:prstGeom prst="rect">
            <a:avLst/>
          </a:prstGeom>
          <a:noFill/>
        </p:spPr>
        <p:txBody>
          <a:bodyPr wrap="square" rtlCol="0">
            <a:spAutoFit/>
          </a:bodyPr>
          <a:lstStyle/>
          <a:p>
            <a:pPr algn="ctr"/>
            <a:r>
              <a:rPr lang="en-US" sz="1200" dirty="0"/>
              <a:t>Information to the user</a:t>
            </a:r>
            <a:endParaRPr lang="en-IN" sz="1200" dirty="0"/>
          </a:p>
        </p:txBody>
      </p:sp>
      <p:sp>
        <p:nvSpPr>
          <p:cNvPr id="28" name="TextBox 27"/>
          <p:cNvSpPr txBox="1"/>
          <p:nvPr/>
        </p:nvSpPr>
        <p:spPr>
          <a:xfrm>
            <a:off x="3615268" y="1415302"/>
            <a:ext cx="1185332" cy="646331"/>
          </a:xfrm>
          <a:prstGeom prst="rect">
            <a:avLst/>
          </a:prstGeom>
          <a:noFill/>
        </p:spPr>
        <p:txBody>
          <a:bodyPr wrap="square" rtlCol="0">
            <a:spAutoFit/>
          </a:bodyPr>
          <a:lstStyle/>
          <a:p>
            <a:pPr algn="ctr"/>
            <a:r>
              <a:rPr lang="en-US" sz="1200" dirty="0"/>
              <a:t>Place the food item on the load cell</a:t>
            </a:r>
            <a:endParaRPr lang="en-IN" sz="1200" dirty="0"/>
          </a:p>
        </p:txBody>
      </p:sp>
      <p:sp>
        <p:nvSpPr>
          <p:cNvPr id="29" name="TextBox 28"/>
          <p:cNvSpPr txBox="1"/>
          <p:nvPr/>
        </p:nvSpPr>
        <p:spPr>
          <a:xfrm>
            <a:off x="3073401" y="3492500"/>
            <a:ext cx="1439333" cy="830997"/>
          </a:xfrm>
          <a:prstGeom prst="rect">
            <a:avLst/>
          </a:prstGeom>
          <a:noFill/>
        </p:spPr>
        <p:txBody>
          <a:bodyPr wrap="square" rtlCol="0">
            <a:spAutoFit/>
          </a:bodyPr>
          <a:lstStyle/>
          <a:p>
            <a:pPr algn="ctr"/>
            <a:r>
              <a:rPr lang="en-US" sz="1200" dirty="0"/>
              <a:t>Obtain Nutrition information of the food item</a:t>
            </a:r>
            <a:endParaRPr lang="en-IN" sz="1200" dirty="0"/>
          </a:p>
          <a:p>
            <a:endParaRPr lang="en-IN" sz="1200" dirty="0"/>
          </a:p>
        </p:txBody>
      </p:sp>
      <p:sp>
        <p:nvSpPr>
          <p:cNvPr id="3" name="Flowchart: Data 2"/>
          <p:cNvSpPr/>
          <p:nvPr/>
        </p:nvSpPr>
        <p:spPr>
          <a:xfrm>
            <a:off x="2709334" y="4605866"/>
            <a:ext cx="1811867" cy="830997"/>
          </a:xfrm>
          <a:prstGeom prst="flowChartInputOutpu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4" name="TextBox 3"/>
          <p:cNvSpPr txBox="1"/>
          <p:nvPr/>
        </p:nvSpPr>
        <p:spPr>
          <a:xfrm>
            <a:off x="3052235" y="4605866"/>
            <a:ext cx="1193800" cy="830997"/>
          </a:xfrm>
          <a:prstGeom prst="rect">
            <a:avLst/>
          </a:prstGeom>
          <a:noFill/>
        </p:spPr>
        <p:txBody>
          <a:bodyPr wrap="square" rtlCol="0">
            <a:spAutoFit/>
          </a:bodyPr>
          <a:lstStyle/>
          <a:p>
            <a:pPr algn="ctr"/>
            <a:r>
              <a:rPr lang="en-IN" sz="1200" dirty="0"/>
              <a:t>Stress measurement using wrist watch</a:t>
            </a:r>
          </a:p>
        </p:txBody>
      </p:sp>
      <p:sp>
        <p:nvSpPr>
          <p:cNvPr id="5" name="Right Arrow 4"/>
          <p:cNvSpPr/>
          <p:nvPr/>
        </p:nvSpPr>
        <p:spPr>
          <a:xfrm>
            <a:off x="4563535" y="4868164"/>
            <a:ext cx="448732" cy="844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87278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70DD1-FEE5-7B41-983E-2EC9F5AB7801}"/>
              </a:ext>
            </a:extLst>
          </p:cNvPr>
          <p:cNvSpPr>
            <a:spLocks noGrp="1"/>
          </p:cNvSpPr>
          <p:nvPr>
            <p:ph type="title"/>
          </p:nvPr>
        </p:nvSpPr>
        <p:spPr>
          <a:xfrm>
            <a:off x="609600" y="740229"/>
            <a:ext cx="10972800" cy="1066800"/>
          </a:xfrm>
        </p:spPr>
        <p:txBody>
          <a:bodyPr/>
          <a:lstStyle/>
          <a:p>
            <a:r>
              <a:rPr lang="en-US" dirty="0"/>
              <a:t>Working</a:t>
            </a:r>
          </a:p>
        </p:txBody>
      </p:sp>
      <p:sp>
        <p:nvSpPr>
          <p:cNvPr id="3" name="Content Placeholder 2">
            <a:extLst>
              <a:ext uri="{FF2B5EF4-FFF2-40B4-BE49-F238E27FC236}">
                <a16:creationId xmlns:a16="http://schemas.microsoft.com/office/drawing/2014/main" id="{F21F3338-CAB4-6A4C-888B-6D83A169CAE5}"/>
              </a:ext>
            </a:extLst>
          </p:cNvPr>
          <p:cNvSpPr>
            <a:spLocks noGrp="1"/>
          </p:cNvSpPr>
          <p:nvPr>
            <p:ph idx="1"/>
          </p:nvPr>
        </p:nvSpPr>
        <p:spPr/>
        <p:txBody>
          <a:bodyPr/>
          <a:lstStyle/>
          <a:p>
            <a:pPr marL="0" indent="0">
              <a:buNone/>
            </a:pPr>
            <a:r>
              <a:rPr lang="en-US" dirty="0"/>
              <a:t> </a:t>
            </a:r>
          </a:p>
        </p:txBody>
      </p:sp>
      <p:sp>
        <p:nvSpPr>
          <p:cNvPr id="4" name="TextBox 3"/>
          <p:cNvSpPr txBox="1"/>
          <p:nvPr/>
        </p:nvSpPr>
        <p:spPr>
          <a:xfrm>
            <a:off x="885370" y="1534269"/>
            <a:ext cx="10160002" cy="5755422"/>
          </a:xfrm>
          <a:prstGeom prst="rect">
            <a:avLst/>
          </a:prstGeom>
          <a:noFill/>
        </p:spPr>
        <p:txBody>
          <a:bodyPr wrap="square" rtlCol="0">
            <a:spAutoFit/>
          </a:bodyPr>
          <a:lstStyle/>
          <a:p>
            <a:pPr algn="just"/>
            <a:r>
              <a:rPr lang="en-US" sz="2000" dirty="0"/>
              <a:t>  </a:t>
            </a:r>
          </a:p>
          <a:p>
            <a:pPr marL="342900" indent="-342900" algn="just">
              <a:buFont typeface="Arial" pitchFamily="34" charset="0"/>
              <a:buChar char="•"/>
            </a:pPr>
            <a:r>
              <a:rPr lang="en-US" sz="2800" dirty="0"/>
              <a:t>Load Cell calculates the voltage value of the food</a:t>
            </a:r>
          </a:p>
          <a:p>
            <a:pPr marL="342900" indent="-342900" algn="just">
              <a:buFont typeface="Arial" pitchFamily="34" charset="0"/>
              <a:buChar char="•"/>
            </a:pPr>
            <a:endParaRPr lang="en-US" sz="2800" dirty="0"/>
          </a:p>
          <a:p>
            <a:pPr marL="342900" indent="-342900" algn="just">
              <a:buFont typeface="Arial" pitchFamily="34" charset="0"/>
              <a:buChar char="•"/>
            </a:pPr>
            <a:r>
              <a:rPr lang="en-US" sz="2800" dirty="0"/>
              <a:t>Value is stored in microcontroller and it is sent to cloud </a:t>
            </a:r>
          </a:p>
          <a:p>
            <a:pPr marL="342900" indent="-342900" algn="just">
              <a:buFont typeface="Arial" pitchFamily="34" charset="0"/>
              <a:buChar char="•"/>
            </a:pPr>
            <a:endParaRPr lang="en-US" sz="2800" dirty="0"/>
          </a:p>
          <a:p>
            <a:pPr marL="342900" indent="-342900" algn="just">
              <a:buFont typeface="Arial" pitchFamily="34" charset="0"/>
              <a:buChar char="•"/>
            </a:pPr>
            <a:r>
              <a:rPr lang="en-US" sz="2800" dirty="0"/>
              <a:t>Using Bayesian network, nutrition information of the food is measured </a:t>
            </a:r>
          </a:p>
          <a:p>
            <a:pPr marL="342900" indent="-342900" algn="just">
              <a:buFont typeface="Arial" pitchFamily="34" charset="0"/>
              <a:buChar char="•"/>
            </a:pPr>
            <a:endParaRPr lang="en-US" sz="2800" dirty="0"/>
          </a:p>
          <a:p>
            <a:pPr marL="342900" indent="-342900" algn="just">
              <a:buFont typeface="Arial" pitchFamily="34" charset="0"/>
              <a:buChar char="•"/>
            </a:pPr>
            <a:r>
              <a:rPr lang="en-US" sz="2800" dirty="0"/>
              <a:t>The 5-Layer perceptron neural network predicts the next meal</a:t>
            </a:r>
          </a:p>
          <a:p>
            <a:pPr algn="just"/>
            <a:r>
              <a:rPr lang="en-US" sz="2800" dirty="0"/>
              <a:t>    </a:t>
            </a:r>
          </a:p>
          <a:p>
            <a:pPr marL="342900" indent="-342900" algn="just">
              <a:buFont typeface="Arial" pitchFamily="34" charset="0"/>
              <a:buChar char="•"/>
            </a:pPr>
            <a:r>
              <a:rPr lang="en-US" sz="2800" dirty="0"/>
              <a:t>The complete balanced diet information is sent to the user </a:t>
            </a:r>
          </a:p>
          <a:p>
            <a:pPr marL="342900" indent="-342900" algn="just">
              <a:buFont typeface="Arial" pitchFamily="34" charset="0"/>
              <a:buChar char="•"/>
            </a:pPr>
            <a:endParaRPr lang="en-US" sz="2000" dirty="0"/>
          </a:p>
          <a:p>
            <a:pPr marL="342900" indent="-342900" algn="just">
              <a:buFont typeface="Arial" pitchFamily="34" charset="0"/>
              <a:buChar char="•"/>
            </a:pPr>
            <a:endParaRPr lang="en-IN" sz="2000" dirty="0"/>
          </a:p>
        </p:txBody>
      </p:sp>
    </p:spTree>
    <p:extLst>
      <p:ext uri="{BB962C8B-B14F-4D97-AF65-F5344CB8AC3E}">
        <p14:creationId xmlns:p14="http://schemas.microsoft.com/office/powerpoint/2010/main" val="1535727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51467"/>
            <a:ext cx="10972800" cy="1066800"/>
          </a:xfrm>
        </p:spPr>
        <p:txBody>
          <a:bodyPr/>
          <a:lstStyle/>
          <a:p>
            <a:r>
              <a:rPr lang="en-IN" dirty="0"/>
              <a:t>Conclusion</a:t>
            </a:r>
          </a:p>
        </p:txBody>
      </p:sp>
      <p:sp>
        <p:nvSpPr>
          <p:cNvPr id="3" name="Content Placeholder 2"/>
          <p:cNvSpPr>
            <a:spLocks noGrp="1"/>
          </p:cNvSpPr>
          <p:nvPr>
            <p:ph idx="1"/>
          </p:nvPr>
        </p:nvSpPr>
        <p:spPr/>
        <p:txBody>
          <a:bodyPr/>
          <a:lstStyle/>
          <a:p>
            <a:pPr marL="109728" indent="0" algn="just">
              <a:buNone/>
            </a:pPr>
            <a:endParaRPr lang="en-IN" dirty="0"/>
          </a:p>
          <a:p>
            <a:pPr marL="109728" indent="0" algn="just">
              <a:buNone/>
            </a:pPr>
            <a:r>
              <a:rPr lang="en-IN" dirty="0"/>
              <a:t>	This proposed </a:t>
            </a:r>
            <a:r>
              <a:rPr lang="en-IN"/>
              <a:t>project  suggest </a:t>
            </a:r>
            <a:r>
              <a:rPr lang="en-IN" dirty="0"/>
              <a:t>the meal to the end user to have a balanced diet based on the calculation of amount of nutrients and stress level of a person resulting in a perfect balanced diet preventing malnutrition</a:t>
            </a:r>
            <a:r>
              <a:rPr lang="en-IN" sz="2400" dirty="0"/>
              <a:t>.</a:t>
            </a:r>
          </a:p>
        </p:txBody>
      </p:sp>
    </p:spTree>
    <p:extLst>
      <p:ext uri="{BB962C8B-B14F-4D97-AF65-F5344CB8AC3E}">
        <p14:creationId xmlns:p14="http://schemas.microsoft.com/office/powerpoint/2010/main" val="2501789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rmAutofit fontScale="62500" lnSpcReduction="20000"/>
          </a:bodyPr>
          <a:lstStyle/>
          <a:p>
            <a:pPr marL="0" lvl="0" indent="0" algn="just">
              <a:buNone/>
            </a:pPr>
            <a:endParaRPr lang="en-GB" dirty="0"/>
          </a:p>
          <a:p>
            <a:pPr marL="0" indent="0" algn="just">
              <a:buNone/>
            </a:pPr>
            <a:endParaRPr lang="en-IN" dirty="0"/>
          </a:p>
          <a:p>
            <a:pPr marL="0" indent="0" algn="just">
              <a:buNone/>
            </a:pPr>
            <a:r>
              <a:rPr lang="en-GB" dirty="0"/>
              <a:t>[1]  P. </a:t>
            </a:r>
            <a:r>
              <a:rPr lang="en-GB" dirty="0" err="1"/>
              <a:t>Sunderavadivel</a:t>
            </a:r>
            <a:r>
              <a:rPr lang="en-GB" dirty="0"/>
              <a:t>, K. </a:t>
            </a:r>
            <a:r>
              <a:rPr lang="en-GB" dirty="0" err="1"/>
              <a:t>Kesavan</a:t>
            </a:r>
            <a:r>
              <a:rPr lang="en-GB" dirty="0"/>
              <a:t>, L. </a:t>
            </a:r>
            <a:r>
              <a:rPr lang="en-GB" dirty="0" err="1"/>
              <a:t>Kesavan</a:t>
            </a:r>
            <a:r>
              <a:rPr lang="en-GB" dirty="0"/>
              <a:t>, S. P. </a:t>
            </a:r>
            <a:r>
              <a:rPr lang="en-GB" dirty="0" err="1"/>
              <a:t>Mohanty</a:t>
            </a:r>
            <a:r>
              <a:rPr lang="en-GB" dirty="0"/>
              <a:t>, E. </a:t>
            </a:r>
            <a:r>
              <a:rPr lang="en-GB" dirty="0" err="1"/>
              <a:t>Kougianous</a:t>
            </a:r>
            <a:r>
              <a:rPr lang="en-GB" dirty="0"/>
              <a:t> and M. K. </a:t>
            </a:r>
            <a:r>
              <a:rPr lang="en-GB" dirty="0" err="1"/>
              <a:t>Ganapathiraju</a:t>
            </a:r>
            <a:r>
              <a:rPr lang="en-GB" dirty="0"/>
              <a:t>,                           “Smart-Log:    An Automated, Predictive    Nutrition Monitoring System for Infants through IoT,” </a:t>
            </a:r>
            <a:r>
              <a:rPr lang="en-GB" i="1" dirty="0"/>
              <a:t>IEEE International Conference Consumer Electronics</a:t>
            </a:r>
            <a:r>
              <a:rPr lang="en-GB" dirty="0"/>
              <a:t>, 2018.</a:t>
            </a:r>
          </a:p>
          <a:p>
            <a:pPr marL="0" lvl="0" indent="0" algn="just">
              <a:buNone/>
            </a:pPr>
            <a:endParaRPr lang="en-GB" dirty="0"/>
          </a:p>
          <a:p>
            <a:pPr marL="0" lvl="0" indent="0" algn="just">
              <a:buNone/>
            </a:pPr>
            <a:r>
              <a:rPr lang="en-GB" dirty="0"/>
              <a:t>[2]  H. </a:t>
            </a:r>
            <a:r>
              <a:rPr lang="en-GB" dirty="0" err="1"/>
              <a:t>Kalantarian</a:t>
            </a:r>
            <a:r>
              <a:rPr lang="en-GB" dirty="0"/>
              <a:t>, N. </a:t>
            </a:r>
            <a:r>
              <a:rPr lang="en-GB" dirty="0" err="1"/>
              <a:t>Alshurafa</a:t>
            </a:r>
            <a:r>
              <a:rPr lang="en-GB" dirty="0"/>
              <a:t> and M. </a:t>
            </a:r>
            <a:r>
              <a:rPr lang="en-GB" dirty="0" err="1"/>
              <a:t>Sarrafzadeh</a:t>
            </a:r>
            <a:r>
              <a:rPr lang="en-GB" dirty="0"/>
              <a:t>, “A Survey of Diet Monitoring Technology,” </a:t>
            </a:r>
            <a:r>
              <a:rPr lang="en-GB" i="1" dirty="0"/>
              <a:t>IEEE Pervasive Computers</a:t>
            </a:r>
            <a:r>
              <a:rPr lang="en-GB" dirty="0"/>
              <a:t>, volume 16, no. 1, pp. 57-65, January 2017.</a:t>
            </a:r>
            <a:endParaRPr lang="en-IN" dirty="0"/>
          </a:p>
          <a:p>
            <a:pPr marL="0" indent="0" algn="just">
              <a:buNone/>
            </a:pPr>
            <a:r>
              <a:rPr lang="en-GB" dirty="0"/>
              <a:t> </a:t>
            </a:r>
            <a:endParaRPr lang="en-IN" dirty="0"/>
          </a:p>
          <a:p>
            <a:pPr marL="0" indent="0" algn="just">
              <a:buNone/>
            </a:pPr>
            <a:r>
              <a:rPr lang="en-GB" dirty="0"/>
              <a:t>[3] A. </a:t>
            </a:r>
            <a:r>
              <a:rPr lang="en-GB" dirty="0" err="1"/>
              <a:t>R.Al</a:t>
            </a:r>
            <a:r>
              <a:rPr lang="en-GB" dirty="0"/>
              <a:t>-Ali, I. A. </a:t>
            </a:r>
            <a:r>
              <a:rPr lang="en-GB" dirty="0" err="1"/>
              <a:t>Zualkernan</a:t>
            </a:r>
            <a:r>
              <a:rPr lang="en-GB" dirty="0"/>
              <a:t>, M. Rashid, R. Gupta and M. </a:t>
            </a:r>
            <a:r>
              <a:rPr lang="en-GB" dirty="0" err="1"/>
              <a:t>Alikarar</a:t>
            </a:r>
            <a:r>
              <a:rPr lang="en-GB" dirty="0"/>
              <a:t>, “A Smart Home Energy Management System using </a:t>
            </a:r>
            <a:r>
              <a:rPr lang="en-GB" dirty="0" err="1"/>
              <a:t>IoT</a:t>
            </a:r>
            <a:r>
              <a:rPr lang="en-GB" dirty="0"/>
              <a:t> and Big Data Analytics Approach,” </a:t>
            </a:r>
            <a:r>
              <a:rPr lang="en-GB" i="1" dirty="0"/>
              <a:t>IEEE Transaction Consumer Electronics</a:t>
            </a:r>
            <a:r>
              <a:rPr lang="en-GB" dirty="0"/>
              <a:t>, volume 63, no. 4, pp. 426-434 November 2017.</a:t>
            </a:r>
            <a:endParaRPr lang="en-IN" dirty="0"/>
          </a:p>
          <a:p>
            <a:pPr marL="0" indent="0" algn="just">
              <a:buNone/>
            </a:pPr>
            <a:r>
              <a:rPr lang="en-GB" dirty="0"/>
              <a:t> </a:t>
            </a:r>
            <a:endParaRPr lang="en-IN" dirty="0"/>
          </a:p>
          <a:p>
            <a:pPr marL="0" lvl="0" indent="0" algn="just">
              <a:buNone/>
            </a:pPr>
            <a:r>
              <a:rPr lang="en-GB" dirty="0"/>
              <a:t>[4] T. Vu, F. Lin, N. </a:t>
            </a:r>
            <a:r>
              <a:rPr lang="en-GB" dirty="0" err="1"/>
              <a:t>Alshurafa</a:t>
            </a:r>
            <a:r>
              <a:rPr lang="en-GB" dirty="0"/>
              <a:t> and W. </a:t>
            </a:r>
            <a:r>
              <a:rPr lang="en-GB" dirty="0" err="1"/>
              <a:t>Xu</a:t>
            </a:r>
            <a:r>
              <a:rPr lang="en-GB" dirty="0"/>
              <a:t>, “Wearable Food Intake Monitoring Technologies: A Comprehensive Review,” </a:t>
            </a:r>
            <a:r>
              <a:rPr lang="en-GB" i="1" dirty="0"/>
              <a:t>Computers</a:t>
            </a:r>
            <a:r>
              <a:rPr lang="en-GB" dirty="0"/>
              <a:t>, volume 6, no. 4, 2017.</a:t>
            </a:r>
            <a:endParaRPr lang="en-IN" dirty="0"/>
          </a:p>
          <a:p>
            <a:pPr marL="0" indent="0" algn="just">
              <a:buNone/>
            </a:pPr>
            <a:r>
              <a:rPr lang="en-GB" dirty="0"/>
              <a:t> </a:t>
            </a:r>
            <a:endParaRPr lang="en-IN" dirty="0"/>
          </a:p>
          <a:p>
            <a:pPr marL="0" indent="0" algn="just">
              <a:buNone/>
            </a:pPr>
            <a:endParaRPr lang="en-IN" dirty="0"/>
          </a:p>
        </p:txBody>
      </p:sp>
    </p:spTree>
    <p:extLst>
      <p:ext uri="{BB962C8B-B14F-4D97-AF65-F5344CB8AC3E}">
        <p14:creationId xmlns:p14="http://schemas.microsoft.com/office/powerpoint/2010/main" val="1972953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841171"/>
            <a:ext cx="10972800" cy="3733364"/>
          </a:xfrm>
        </p:spPr>
        <p:txBody>
          <a:bodyPr>
            <a:normAutofit/>
          </a:bodyPr>
          <a:lstStyle/>
          <a:p>
            <a:pPr marL="109728" indent="0">
              <a:buNone/>
            </a:pPr>
            <a:r>
              <a:rPr lang="en-IN" sz="5400" dirty="0">
                <a:effectLst>
                  <a:glow rad="431800">
                    <a:schemeClr val="accent1">
                      <a:alpha val="40000"/>
                    </a:schemeClr>
                  </a:glow>
                  <a:outerShdw blurRad="38100" dist="38100" dir="2700000" algn="tl">
                    <a:srgbClr val="000000">
                      <a:alpha val="43137"/>
                    </a:srgbClr>
                  </a:outerShdw>
                </a:effectLst>
              </a:rPr>
              <a:t>			THANK YOU</a:t>
            </a:r>
          </a:p>
        </p:txBody>
      </p:sp>
    </p:spTree>
    <p:extLst>
      <p:ext uri="{BB962C8B-B14F-4D97-AF65-F5344CB8AC3E}">
        <p14:creationId xmlns:p14="http://schemas.microsoft.com/office/powerpoint/2010/main" val="2416450322"/>
      </p:ext>
    </p:extLst>
  </p:cSld>
  <p:clrMapOvr>
    <a:masterClrMapping/>
  </p:clrMapOvr>
</p:sld>
</file>

<file path=ppt/theme/_rels/theme4.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Theme1">
  <a:themeElements>
    <a:clrScheme name="Custom 8">
      <a:dk1>
        <a:sysClr val="windowText" lastClr="000000"/>
      </a:dk1>
      <a:lt1>
        <a:srgbClr val="073E87"/>
      </a:lt1>
      <a:dk2>
        <a:srgbClr val="B9D5FB"/>
      </a:dk2>
      <a:lt2>
        <a:srgbClr val="002060"/>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977</TotalTime>
  <Words>481</Words>
  <Application>Microsoft Macintosh PowerPoint</Application>
  <PresentationFormat>Widescreen</PresentationFormat>
  <Paragraphs>138</Paragraphs>
  <Slides>14</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14</vt:i4>
      </vt:variant>
    </vt:vector>
  </HeadingPairs>
  <TitlesOfParts>
    <vt:vector size="24" baseType="lpstr">
      <vt:lpstr>맑은 고딕</vt:lpstr>
      <vt:lpstr>Arial</vt:lpstr>
      <vt:lpstr>Calibri</vt:lpstr>
      <vt:lpstr>Georgia</vt:lpstr>
      <vt:lpstr>Trebuchet MS</vt:lpstr>
      <vt:lpstr>Wingdings 2</vt:lpstr>
      <vt:lpstr>Theme1</vt:lpstr>
      <vt:lpstr>Custom Design</vt:lpstr>
      <vt:lpstr>1_Custom Design</vt:lpstr>
      <vt:lpstr>Urban</vt:lpstr>
      <vt:lpstr>IoT based Automated Nutrition Monitoring System using Deep-Learning Approaches</vt:lpstr>
      <vt:lpstr>Content</vt:lpstr>
      <vt:lpstr>Introduction</vt:lpstr>
      <vt:lpstr>Objective</vt:lpstr>
      <vt:lpstr>Literature Survey</vt:lpstr>
      <vt:lpstr>Limitations</vt:lpstr>
      <vt:lpstr>Overcoming Limitations</vt:lpstr>
      <vt:lpstr>Proposed block diagram</vt:lpstr>
      <vt:lpstr>Components</vt:lpstr>
      <vt:lpstr>Flow graph</vt:lpstr>
      <vt:lpstr>Working</vt:lpstr>
      <vt:lpstr>Conclusion</vt:lpstr>
      <vt:lpstr>References</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Deep Learning Based Automated Nutrition Monitoring System using IoT</dc:title>
  <dc:creator>Microsoft Office User</dc:creator>
  <cp:lastModifiedBy>Microsoft Office User</cp:lastModifiedBy>
  <cp:revision>40</cp:revision>
  <dcterms:created xsi:type="dcterms:W3CDTF">2019-09-02T15:26:24Z</dcterms:created>
  <dcterms:modified xsi:type="dcterms:W3CDTF">2019-09-05T07:37:29Z</dcterms:modified>
</cp:coreProperties>
</file>